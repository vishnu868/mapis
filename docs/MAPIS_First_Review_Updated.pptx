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753600" cy="7315200"/>
  <p:notesSz cx="6858000" cy="9144000"/>
  <p:embeddedFontLst>
    <p:embeddedFont>
      <p:font typeface="Arial Narrow" panose="020B0606020202030204" pitchFamily="34" charset="0"/>
      <p:regular r:id="rId20"/>
      <p:bold r:id="rId21"/>
      <p:italic r:id="rId22"/>
      <p:boldItalic r:id="rId23"/>
    </p:embeddedFont>
    <p:embeddedFont>
      <p:font typeface="Arimo" panose="020B0604020202020204" charset="0"/>
      <p:regular r:id="rId24"/>
    </p:embeddedFont>
    <p:embeddedFont>
      <p:font typeface="Calibri (MS)" panose="020B0604020202020204" charset="0"/>
      <p:regular r:id="rId25"/>
    </p:embeddedFont>
    <p:embeddedFont>
      <p:font typeface="Calibri (MS)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79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M" userId="ed08214eda458414" providerId="LiveId" clId="{70BEF3B3-0A53-4BDF-8BB5-6942CB683637}"/>
    <pc:docChg chg="undo redo custSel addSld modSld">
      <pc:chgData name="vishnu M" userId="ed08214eda458414" providerId="LiveId" clId="{70BEF3B3-0A53-4BDF-8BB5-6942CB683637}" dt="2026-09-19T07:46:23.420" v="384" actId="2"/>
      <pc:docMkLst>
        <pc:docMk/>
      </pc:docMkLst>
      <pc:sldChg chg="modSp mod">
        <pc:chgData name="vishnu M" userId="ed08214eda458414" providerId="LiveId" clId="{70BEF3B3-0A53-4BDF-8BB5-6942CB683637}" dt="2026-09-19T07:46:21.620" v="374" actId="2"/>
        <pc:sldMkLst>
          <pc:docMk/>
          <pc:sldMk cId="0" sldId="256"/>
        </pc:sldMkLst>
        <pc:spChg chg="mod">
          <ac:chgData name="vishnu M" userId="ed08214eda458414" providerId="LiveId" clId="{70BEF3B3-0A53-4BDF-8BB5-6942CB683637}" dt="2026-09-19T07:46:21.422" v="373" actId="2"/>
          <ac:spMkLst>
            <pc:docMk/>
            <pc:sldMk cId="0" sldId="256"/>
            <ac:spMk id="7" creationId="{00000000-0000-0000-0000-000000000000}"/>
          </ac:spMkLst>
        </pc:spChg>
        <pc:spChg chg="mod">
          <ac:chgData name="vishnu M" userId="ed08214eda458414" providerId="LiveId" clId="{70BEF3B3-0A53-4BDF-8BB5-6942CB683637}" dt="2026-09-19T07:46:21.620" v="374" actId="2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vishnu M" userId="ed08214eda458414" providerId="LiveId" clId="{70BEF3B3-0A53-4BDF-8BB5-6942CB683637}" dt="2026-09-19T07:46:22.322" v="378" actId="2"/>
        <pc:sldMkLst>
          <pc:docMk/>
          <pc:sldMk cId="0" sldId="257"/>
        </pc:sldMkLst>
        <pc:spChg chg="mod">
          <ac:chgData name="vishnu M" userId="ed08214eda458414" providerId="LiveId" clId="{70BEF3B3-0A53-4BDF-8BB5-6942CB683637}" dt="2026-09-19T07:46:22.322" v="378" actId="2"/>
          <ac:spMkLst>
            <pc:docMk/>
            <pc:sldMk cId="0" sldId="257"/>
            <ac:spMk id="6" creationId="{AF823B2B-A0A0-6214-C49A-140F29B51C65}"/>
          </ac:spMkLst>
        </pc:spChg>
      </pc:sldChg>
      <pc:sldChg chg="modSp mod">
        <pc:chgData name="vishnu M" userId="ed08214eda458414" providerId="LiveId" clId="{70BEF3B3-0A53-4BDF-8BB5-6942CB683637}" dt="2026-09-19T07:46:22.505" v="379" actId="2"/>
        <pc:sldMkLst>
          <pc:docMk/>
          <pc:sldMk cId="0" sldId="258"/>
        </pc:sldMkLst>
        <pc:spChg chg="mod">
          <ac:chgData name="vishnu M" userId="ed08214eda458414" providerId="LiveId" clId="{70BEF3B3-0A53-4BDF-8BB5-6942CB683637}" dt="2026-09-19T07:46:22.505" v="379" actId="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ishnu M" userId="ed08214eda458414" providerId="LiveId" clId="{70BEF3B3-0A53-4BDF-8BB5-6942CB683637}" dt="2026-09-19T07:46:23.420" v="384" actId="2"/>
        <pc:sldMkLst>
          <pc:docMk/>
          <pc:sldMk cId="0" sldId="259"/>
        </pc:sldMkLst>
        <pc:spChg chg="mod">
          <ac:chgData name="vishnu M" userId="ed08214eda458414" providerId="LiveId" clId="{70BEF3B3-0A53-4BDF-8BB5-6942CB683637}" dt="2026-09-19T07:46:23.420" v="384" actId="2"/>
          <ac:spMkLst>
            <pc:docMk/>
            <pc:sldMk cId="0" sldId="259"/>
            <ac:spMk id="4" creationId="{00000000-0000-0000-0000-000000000000}"/>
          </ac:spMkLst>
        </pc:spChg>
      </pc:sldChg>
      <pc:sldChg chg="delSp modSp mod">
        <pc:chgData name="vishnu M" userId="ed08214eda458414" providerId="LiveId" clId="{70BEF3B3-0A53-4BDF-8BB5-6942CB683637}" dt="2026-09-19T07:46:00.080" v="334" actId="1076"/>
        <pc:sldMkLst>
          <pc:docMk/>
          <pc:sldMk cId="0" sldId="260"/>
        </pc:sldMkLst>
        <pc:spChg chg="mod">
          <ac:chgData name="vishnu M" userId="ed08214eda458414" providerId="LiveId" clId="{70BEF3B3-0A53-4BDF-8BB5-6942CB683637}" dt="2026-09-19T07:46:00.080" v="334" actId="1076"/>
          <ac:spMkLst>
            <pc:docMk/>
            <pc:sldMk cId="0" sldId="260"/>
            <ac:spMk id="8" creationId="{853DC7EA-C825-5343-29D5-6F7CADDE3067}"/>
          </ac:spMkLst>
        </pc:spChg>
        <pc:spChg chg="del">
          <ac:chgData name="vishnu M" userId="ed08214eda458414" providerId="LiveId" clId="{70BEF3B3-0A53-4BDF-8BB5-6942CB683637}" dt="2026-09-19T07:41:35.739" v="280" actId="478"/>
          <ac:spMkLst>
            <pc:docMk/>
            <pc:sldMk cId="0" sldId="260"/>
            <ac:spMk id="10" creationId="{EC857A35-BE2A-8866-DCBE-A2BDFCC20745}"/>
          </ac:spMkLst>
        </pc:spChg>
      </pc:sldChg>
      <pc:sldChg chg="modSp mod">
        <pc:chgData name="vishnu M" userId="ed08214eda458414" providerId="LiveId" clId="{70BEF3B3-0A53-4BDF-8BB5-6942CB683637}" dt="2026-09-19T07:46:16.010" v="345" actId="2"/>
        <pc:sldMkLst>
          <pc:docMk/>
          <pc:sldMk cId="0" sldId="261"/>
        </pc:sldMkLst>
        <pc:graphicFrameChg chg="mod modGraphic">
          <ac:chgData name="vishnu M" userId="ed08214eda458414" providerId="LiveId" clId="{70BEF3B3-0A53-4BDF-8BB5-6942CB683637}" dt="2026-09-19T07:46:16.010" v="345" actId="2"/>
          <ac:graphicFrameMkLst>
            <pc:docMk/>
            <pc:sldMk cId="0" sldId="261"/>
            <ac:graphicFrameMk id="5" creationId="{DF84BCE7-DF64-39BA-DF2A-9B6FBE1CAF50}"/>
          </ac:graphicFrameMkLst>
        </pc:graphicFrameChg>
      </pc:sldChg>
      <pc:sldChg chg="addSp modSp mod">
        <pc:chgData name="vishnu M" userId="ed08214eda458414" providerId="LiveId" clId="{70BEF3B3-0A53-4BDF-8BB5-6942CB683637}" dt="2026-09-19T07:46:17.370" v="350" actId="2"/>
        <pc:sldMkLst>
          <pc:docMk/>
          <pc:sldMk cId="0" sldId="262"/>
        </pc:sldMkLst>
        <pc:spChg chg="add mod">
          <ac:chgData name="vishnu M" userId="ed08214eda458414" providerId="LiveId" clId="{70BEF3B3-0A53-4BDF-8BB5-6942CB683637}" dt="2026-09-19T07:46:16.555" v="348" actId="2"/>
          <ac:spMkLst>
            <pc:docMk/>
            <pc:sldMk cId="0" sldId="262"/>
            <ac:spMk id="3" creationId="{7CAF28E7-AB5D-8514-5A73-EB5BC832A4D1}"/>
          </ac:spMkLst>
        </pc:spChg>
        <pc:spChg chg="mod">
          <ac:chgData name="vishnu M" userId="ed08214eda458414" providerId="LiveId" clId="{70BEF3B3-0A53-4BDF-8BB5-6942CB683637}" dt="2026-09-19T07:46:16.370" v="347" actId="2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vishnu M" userId="ed08214eda458414" providerId="LiveId" clId="{70BEF3B3-0A53-4BDF-8BB5-6942CB683637}" dt="2026-09-19T07:46:17.370" v="350" actId="2"/>
          <ac:spMkLst>
            <pc:docMk/>
            <pc:sldMk cId="0" sldId="262"/>
            <ac:spMk id="5" creationId="{4673454D-AA9A-40E4-5B7D-4C3D7F034A73}"/>
          </ac:spMkLst>
        </pc:spChg>
      </pc:sldChg>
      <pc:sldChg chg="addSp delSp modSp mod">
        <pc:chgData name="vishnu M" userId="ed08214eda458414" providerId="LiveId" clId="{70BEF3B3-0A53-4BDF-8BB5-6942CB683637}" dt="2026-09-19T07:00:42.634" v="172" actId="1076"/>
        <pc:sldMkLst>
          <pc:docMk/>
          <pc:sldMk cId="0" sldId="263"/>
        </pc:sldMkLst>
        <pc:spChg chg="mod">
          <ac:chgData name="vishnu M" userId="ed08214eda458414" providerId="LiveId" clId="{70BEF3B3-0A53-4BDF-8BB5-6942CB683637}" dt="2026-09-19T07:00:42.634" v="172" actId="1076"/>
          <ac:spMkLst>
            <pc:docMk/>
            <pc:sldMk cId="0" sldId="263"/>
            <ac:spMk id="2" creationId="{00000000-0000-0000-0000-000000000000}"/>
          </ac:spMkLst>
        </pc:spChg>
        <pc:spChg chg="add">
          <ac:chgData name="vishnu M" userId="ed08214eda458414" providerId="LiveId" clId="{70BEF3B3-0A53-4BDF-8BB5-6942CB683637}" dt="2026-09-19T06:59:29.238" v="153"/>
          <ac:spMkLst>
            <pc:docMk/>
            <pc:sldMk cId="0" sldId="263"/>
            <ac:spMk id="3" creationId="{AF5F3510-0C52-9141-6D86-A9E634D69578}"/>
          </ac:spMkLst>
        </pc:spChg>
        <pc:spChg chg="mod">
          <ac:chgData name="vishnu M" userId="ed08214eda458414" providerId="LiveId" clId="{70BEF3B3-0A53-4BDF-8BB5-6942CB683637}" dt="2026-09-19T07:00:35.832" v="171" actId="403"/>
          <ac:spMkLst>
            <pc:docMk/>
            <pc:sldMk cId="0" sldId="263"/>
            <ac:spMk id="10" creationId="{3C611463-6E34-E018-9E7C-B15D6DE267FE}"/>
          </ac:spMkLst>
        </pc:spChg>
        <pc:spChg chg="del mod">
          <ac:chgData name="vishnu M" userId="ed08214eda458414" providerId="LiveId" clId="{70BEF3B3-0A53-4BDF-8BB5-6942CB683637}" dt="2026-09-19T06:59:25.097" v="152" actId="478"/>
          <ac:spMkLst>
            <pc:docMk/>
            <pc:sldMk cId="0" sldId="263"/>
            <ac:spMk id="12" creationId="{5214FFFD-3E1F-74D7-FDBA-47EE499FE61B}"/>
          </ac:spMkLst>
        </pc:spChg>
        <pc:graphicFrameChg chg="del">
          <ac:chgData name="vishnu M" userId="ed08214eda458414" providerId="LiveId" clId="{70BEF3B3-0A53-4BDF-8BB5-6942CB683637}" dt="2026-09-19T06:56:32.550" v="119" actId="478"/>
          <ac:graphicFrameMkLst>
            <pc:docMk/>
            <pc:sldMk cId="0" sldId="263"/>
            <ac:graphicFrameMk id="9" creationId="{5965D1E8-1ACF-36E8-37E3-51A47D407D84}"/>
          </ac:graphicFrameMkLst>
        </pc:graphicFrameChg>
      </pc:sldChg>
      <pc:sldChg chg="modSp mod">
        <pc:chgData name="vishnu M" userId="ed08214eda458414" providerId="LiveId" clId="{70BEF3B3-0A53-4BDF-8BB5-6942CB683637}" dt="2026-09-19T07:46:17.704" v="352" actId="2"/>
        <pc:sldMkLst>
          <pc:docMk/>
          <pc:sldMk cId="0" sldId="264"/>
        </pc:sldMkLst>
        <pc:spChg chg="mod">
          <ac:chgData name="vishnu M" userId="ed08214eda458414" providerId="LiveId" clId="{70BEF3B3-0A53-4BDF-8BB5-6942CB683637}" dt="2026-09-19T07:46:17.704" v="352" actId="2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vishnu M" userId="ed08214eda458414" providerId="LiveId" clId="{70BEF3B3-0A53-4BDF-8BB5-6942CB683637}" dt="2026-09-19T07:46:18.220" v="355" actId="2"/>
        <pc:sldMkLst>
          <pc:docMk/>
          <pc:sldMk cId="0" sldId="265"/>
        </pc:sldMkLst>
        <pc:spChg chg="mod">
          <ac:chgData name="vishnu M" userId="ed08214eda458414" providerId="LiveId" clId="{70BEF3B3-0A53-4BDF-8BB5-6942CB683637}" dt="2026-09-19T07:46:18.220" v="355" actId="2"/>
          <ac:spMkLst>
            <pc:docMk/>
            <pc:sldMk cId="0" sldId="265"/>
            <ac:spMk id="7" creationId="{40CF6E74-CFF5-74FE-5071-F0ADC9C63224}"/>
          </ac:spMkLst>
        </pc:spChg>
      </pc:sldChg>
      <pc:sldChg chg="modSp mod">
        <pc:chgData name="vishnu M" userId="ed08214eda458414" providerId="LiveId" clId="{70BEF3B3-0A53-4BDF-8BB5-6942CB683637}" dt="2026-09-19T07:46:18.933" v="359" actId="2"/>
        <pc:sldMkLst>
          <pc:docMk/>
          <pc:sldMk cId="0" sldId="266"/>
        </pc:sldMkLst>
        <pc:spChg chg="mod">
          <ac:chgData name="vishnu M" userId="ed08214eda458414" providerId="LiveId" clId="{70BEF3B3-0A53-4BDF-8BB5-6942CB683637}" dt="2026-09-19T07:46:18.933" v="359" actId="2"/>
          <ac:spMkLst>
            <pc:docMk/>
            <pc:sldMk cId="0" sldId="266"/>
            <ac:spMk id="4" creationId="{00000000-0000-0000-0000-000000000000}"/>
          </ac:spMkLst>
        </pc:spChg>
      </pc:sldChg>
      <pc:sldChg chg="delSp modSp mod">
        <pc:chgData name="vishnu M" userId="ed08214eda458414" providerId="LiveId" clId="{70BEF3B3-0A53-4BDF-8BB5-6942CB683637}" dt="2026-09-19T07:46:19.280" v="361" actId="2"/>
        <pc:sldMkLst>
          <pc:docMk/>
          <pc:sldMk cId="0" sldId="267"/>
        </pc:sldMkLst>
        <pc:spChg chg="del mod">
          <ac:chgData name="vishnu M" userId="ed08214eda458414" providerId="LiveId" clId="{70BEF3B3-0A53-4BDF-8BB5-6942CB683637}" dt="2026-09-19T07:05:17.260" v="214"/>
          <ac:spMkLst>
            <pc:docMk/>
            <pc:sldMk cId="0" sldId="267"/>
            <ac:spMk id="6" creationId="{9113FAC4-D2F4-E90F-3E0B-177DCA518CDF}"/>
          </ac:spMkLst>
        </pc:spChg>
        <pc:graphicFrameChg chg="mod modGraphic">
          <ac:chgData name="vishnu M" userId="ed08214eda458414" providerId="LiveId" clId="{70BEF3B3-0A53-4BDF-8BB5-6942CB683637}" dt="2026-09-19T07:46:19.280" v="361" actId="2"/>
          <ac:graphicFrameMkLst>
            <pc:docMk/>
            <pc:sldMk cId="0" sldId="267"/>
            <ac:graphicFrameMk id="5" creationId="{32742748-13D5-97E5-D7D9-3F5B4B1C76BE}"/>
          </ac:graphicFrameMkLst>
        </pc:graphicFrameChg>
      </pc:sldChg>
      <pc:sldChg chg="modSp mod">
        <pc:chgData name="vishnu M" userId="ed08214eda458414" providerId="LiveId" clId="{70BEF3B3-0A53-4BDF-8BB5-6942CB683637}" dt="2026-09-19T07:46:19.656" v="363" actId="2"/>
        <pc:sldMkLst>
          <pc:docMk/>
          <pc:sldMk cId="0" sldId="268"/>
        </pc:sldMkLst>
        <pc:spChg chg="mod">
          <ac:chgData name="vishnu M" userId="ed08214eda458414" providerId="LiveId" clId="{70BEF3B3-0A53-4BDF-8BB5-6942CB683637}" dt="2026-09-19T07:46:19.656" v="363" actId="2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vishnu M" userId="ed08214eda458414" providerId="LiveId" clId="{70BEF3B3-0A53-4BDF-8BB5-6942CB683637}" dt="2026-09-19T07:46:20.200" v="366" actId="2"/>
        <pc:sldMkLst>
          <pc:docMk/>
          <pc:sldMk cId="0" sldId="269"/>
        </pc:sldMkLst>
        <pc:spChg chg="mod">
          <ac:chgData name="vishnu M" userId="ed08214eda458414" providerId="LiveId" clId="{70BEF3B3-0A53-4BDF-8BB5-6942CB683637}" dt="2026-09-19T07:46:20.200" v="366" actId="2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vishnu M" userId="ed08214eda458414" providerId="LiveId" clId="{70BEF3B3-0A53-4BDF-8BB5-6942CB683637}" dt="2026-09-19T07:46:21.262" v="372" actId="2"/>
        <pc:sldMkLst>
          <pc:docMk/>
          <pc:sldMk cId="0" sldId="270"/>
        </pc:sldMkLst>
        <pc:spChg chg="mod">
          <ac:chgData name="vishnu M" userId="ed08214eda458414" providerId="LiveId" clId="{70BEF3B3-0A53-4BDF-8BB5-6942CB683637}" dt="2026-09-19T07:46:21.262" v="372" actId="2"/>
          <ac:spMkLst>
            <pc:docMk/>
            <pc:sldMk cId="0" sldId="270"/>
            <ac:spMk id="4" creationId="{00000000-0000-0000-0000-000000000000}"/>
          </ac:spMkLst>
        </pc:spChg>
      </pc:sldChg>
      <pc:sldChg chg="addSp delSp modSp new mod">
        <pc:chgData name="vishnu M" userId="ed08214eda458414" providerId="LiveId" clId="{70BEF3B3-0A53-4BDF-8BB5-6942CB683637}" dt="2026-09-19T07:46:15.470" v="342" actId="2"/>
        <pc:sldMkLst>
          <pc:docMk/>
          <pc:sldMk cId="2272621242" sldId="272"/>
        </pc:sldMkLst>
        <pc:spChg chg="add del">
          <ac:chgData name="vishnu M" userId="ed08214eda458414" providerId="LiveId" clId="{70BEF3B3-0A53-4BDF-8BB5-6942CB683637}" dt="2026-09-19T07:41:58.244" v="286" actId="22"/>
          <ac:spMkLst>
            <pc:docMk/>
            <pc:sldMk cId="2272621242" sldId="272"/>
            <ac:spMk id="3" creationId="{9293047B-BAE2-3BBB-66A6-A4460E8EF8D3}"/>
          </ac:spMkLst>
        </pc:spChg>
        <pc:spChg chg="add mod">
          <ac:chgData name="vishnu M" userId="ed08214eda458414" providerId="LiveId" clId="{70BEF3B3-0A53-4BDF-8BB5-6942CB683637}" dt="2026-09-19T07:46:15.470" v="342" actId="2"/>
          <ac:spMkLst>
            <pc:docMk/>
            <pc:sldMk cId="2272621242" sldId="272"/>
            <ac:spMk id="4" creationId="{D2967BF2-C585-41E3-E02E-455DF15E415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7FDDF-7F94-46E5-9849-9FC8D3EA4D89}" type="datetimeFigureOut">
              <a:rPr lang="en-IN" smtClean="0"/>
              <a:t>19-09-2026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1DE22-E615-4B33-8D89-2FAED62926D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29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DE22-E615-4B33-8D89-2FAED62926D6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644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DE22-E615-4B33-8D89-2FAED62926D6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050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DE22-E615-4B33-8D89-2FAED62926D6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445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DE22-E615-4B33-8D89-2FAED62926D6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979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2584692"/>
            <a:ext cx="8290560" cy="1660131"/>
            <a:chOff x="0" y="0"/>
            <a:chExt cx="11054080" cy="2213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54080" cy="2213483"/>
            </a:xfrm>
            <a:custGeom>
              <a:avLst/>
              <a:gdLst/>
              <a:ahLst/>
              <a:cxnLst/>
              <a:rect l="l" t="t" r="r" b="b"/>
              <a:pathLst>
                <a:path w="11054080" h="2213483">
                  <a:moveTo>
                    <a:pt x="0" y="0"/>
                  </a:moveTo>
                  <a:lnTo>
                    <a:pt x="11054080" y="0"/>
                  </a:lnTo>
                  <a:lnTo>
                    <a:pt x="11054080" y="2213483"/>
                  </a:lnTo>
                  <a:lnTo>
                    <a:pt x="0" y="22134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239" b="-4724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1520" y="2072056"/>
            <a:ext cx="8293188" cy="2172765"/>
            <a:chOff x="0" y="-588265"/>
            <a:chExt cx="11057584" cy="28970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54080" cy="2308754"/>
            </a:xfrm>
            <a:custGeom>
              <a:avLst/>
              <a:gdLst/>
              <a:ahLst/>
              <a:cxnLst/>
              <a:rect l="l" t="t" r="r" b="b"/>
              <a:pathLst>
                <a:path w="11054080" h="2308754">
                  <a:moveTo>
                    <a:pt x="0" y="0"/>
                  </a:moveTo>
                  <a:lnTo>
                    <a:pt x="11054080" y="0"/>
                  </a:lnTo>
                  <a:lnTo>
                    <a:pt x="11054080" y="2308754"/>
                  </a:lnTo>
                  <a:lnTo>
                    <a:pt x="0" y="23087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292" b="-4329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504" y="-588265"/>
              <a:ext cx="11054080" cy="24040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2"/>
                </a:lnSpc>
              </a:pPr>
              <a:r>
                <a:rPr lang="en-US" sz="4692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MAPIS — AI Multi-Agent Prompt Injection Shield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27660" y="4140390"/>
            <a:ext cx="9098280" cy="2192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sz="2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Team Number: A1</a:t>
            </a:r>
          </a:p>
          <a:p>
            <a:pPr algn="ctr">
              <a:lnSpc>
                <a:spcPts val="1945"/>
              </a:lnSpc>
            </a:pPr>
            <a:endParaRPr lang="en-US" sz="162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1945"/>
              </a:lnSpc>
            </a:pP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Details:</a:t>
            </a:r>
          </a:p>
          <a:p>
            <a:pPr algn="ctr">
              <a:lnSpc>
                <a:spcPts val="1945"/>
              </a:lnSpc>
            </a:pP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Dodla Nithya Sai – CB.SC.U4AIE23021</a:t>
            </a:r>
          </a:p>
          <a:p>
            <a:pPr algn="ctr">
              <a:lnSpc>
                <a:spcPts val="1945"/>
              </a:lnSpc>
            </a:pP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Vishnu Vardhan – CB.SC.U4AIE23043</a:t>
            </a:r>
          </a:p>
          <a:p>
            <a:pPr algn="ctr">
              <a:lnSpc>
                <a:spcPts val="1945"/>
              </a:lnSpc>
            </a:pP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Sreekar Reddy – CB.SC.U4AIE23049</a:t>
            </a:r>
          </a:p>
          <a:p>
            <a:pPr algn="ctr">
              <a:lnSpc>
                <a:spcPts val="1945"/>
              </a:lnSpc>
            </a:pP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Beena Reddy – CB.SC.U4AIE23065</a:t>
            </a:r>
          </a:p>
          <a:p>
            <a:pPr algn="ctr">
              <a:lnSpc>
                <a:spcPts val="1945"/>
              </a:lnSpc>
            </a:pPr>
            <a:endParaRPr lang="en-US" sz="162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1945"/>
              </a:lnSpc>
            </a:pPr>
            <a:endParaRPr lang="en-US" sz="162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032654" y="409773"/>
            <a:ext cx="5688330" cy="994886"/>
            <a:chOff x="0" y="0"/>
            <a:chExt cx="7584440" cy="1326515"/>
          </a:xfrm>
        </p:grpSpPr>
        <p:sp>
          <p:nvSpPr>
            <p:cNvPr id="9" name="Freeform 9" descr="1ebf939e-38c1-4044-bb92-b6712d24adcc.png"/>
            <p:cNvSpPr/>
            <p:nvPr/>
          </p:nvSpPr>
          <p:spPr>
            <a:xfrm>
              <a:off x="0" y="0"/>
              <a:ext cx="7584440" cy="1326515"/>
            </a:xfrm>
            <a:custGeom>
              <a:avLst/>
              <a:gdLst/>
              <a:ahLst/>
              <a:cxnLst/>
              <a:rect l="l" t="t" r="r" b="b"/>
              <a:pathLst>
                <a:path w="7584440" h="1326515">
                  <a:moveTo>
                    <a:pt x="0" y="0"/>
                  </a:moveTo>
                  <a:lnTo>
                    <a:pt x="7584440" y="0"/>
                  </a:lnTo>
                  <a:lnTo>
                    <a:pt x="7584440" y="1326515"/>
                  </a:lnTo>
                  <a:lnTo>
                    <a:pt x="0" y="1326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298704" y="1713269"/>
            <a:ext cx="10741152" cy="80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FIRST REVIEW – B.TECH PROJECT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98704" y="6172200"/>
            <a:ext cx="10351008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Supervisor: Professor Sripriyan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874712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| Project Progress Since Zeroth Review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823B2B-A0A0-6214-C49A-140F29B51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301658"/>
            <a:ext cx="90297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MAPIS-Bench v1 audited against its source repos (1,693 sessions: AgentDojo + InjecAgent) and extended with BIPIA (1,800 sessions)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Runtime shield built — 4-tier response, session store, cross-hop provenance, forensic trace, LangGraph tap on every hop, FastAPI +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Training data v3 — chunked events, hard negatives, 3 held-out test splits; 26 tests passing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 DeBERTa-v3-small trained and evaluated on held-out data (RTX 3050)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Next: Llama Guard / NeMo comparison → live demo → final report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685800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| Motivation &amp; 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295400"/>
            <a:ext cx="8473440" cy="4708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Problem: Indirect prompt injection hides in web pages, documents, tool outputs, or memory — and can spread across agent hops. Defenses that check one message at a time miss it.</a:t>
            </a:r>
          </a:p>
          <a:p>
            <a:r>
              <a:rPr lang="en-US" b="1" dirty="0"/>
              <a:t>Scope:</a:t>
            </a:r>
            <a:br>
              <a:rPr lang="en-US" dirty="0"/>
            </a:br>
            <a:r>
              <a:rPr lang="en-US" b="1" dirty="0"/>
              <a:t>In-scope</a:t>
            </a:r>
            <a:r>
              <a:rPr lang="en-US" dirty="0"/>
              <a:t> — indirect (content-borne) prompt injection, multi-agent testbeds, stateful detection, tiered response, forensic logging, and benchmarking.</a:t>
            </a:r>
            <a:br>
              <a:rPr lang="en-US" dirty="0"/>
            </a:br>
            <a:r>
              <a:rPr lang="en-US" b="1" dirty="0"/>
              <a:t>Out-of-scope</a:t>
            </a:r>
            <a:r>
              <a:rPr lang="en-US" dirty="0"/>
              <a:t> — direct user jailbreaks, training-time defenses, multimodal injection, and attacks target the MAPIS classifier itself.</a:t>
            </a:r>
          </a:p>
          <a:p>
            <a:r>
              <a:rPr lang="en-US" b="1" dirty="0"/>
              <a:t>Objective 1:</a:t>
            </a:r>
            <a:r>
              <a:rPr lang="en-US" dirty="0"/>
              <a:t> Build a multi-agent testbed with FastAPI interception across agent interactions, tool calls, and memory operations.</a:t>
            </a:r>
          </a:p>
          <a:p>
            <a:r>
              <a:rPr lang="en-US" b="1" dirty="0"/>
              <a:t>Objective 2:</a:t>
            </a:r>
            <a:r>
              <a:rPr lang="en-US" dirty="0"/>
              <a:t> Construct a labelled benchmark of </a:t>
            </a:r>
            <a:r>
              <a:rPr lang="en-US" b="1" dirty="0"/>
              <a:t>≥1,000 multi-hop injection samples across 5 attack classes</a:t>
            </a:r>
            <a:r>
              <a:rPr lang="en-US" dirty="0"/>
              <a:t>.</a:t>
            </a:r>
          </a:p>
          <a:p>
            <a:r>
              <a:rPr lang="en-US" b="1" dirty="0"/>
              <a:t>Objective 3:</a:t>
            </a:r>
            <a:r>
              <a:rPr lang="en-US" dirty="0"/>
              <a:t> Develop a stateful trust-scoring classifier targeting </a:t>
            </a:r>
            <a:r>
              <a:rPr lang="en-US" b="1" dirty="0"/>
              <a:t>≥90% accuracy and ≤5% false-positive rate</a:t>
            </a:r>
            <a:r>
              <a:rPr lang="en-US" dirty="0"/>
              <a:t>, with a tiered response layer and improved recall over stateless detection.</a:t>
            </a:r>
          </a:p>
          <a:p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685800"/>
            <a:ext cx="11618976" cy="434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| Consolidated Literature Review &amp; Research Gap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1448514"/>
            <a:ext cx="8982075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/>
              <a:t>Consolidated Literature Review</a:t>
            </a:r>
            <a:endParaRPr lang="en-US" sz="2000" dirty="0"/>
          </a:p>
          <a:p>
            <a:r>
              <a:rPr lang="en-US" sz="1600" dirty="0"/>
              <a:t>• </a:t>
            </a:r>
            <a:r>
              <a:rPr lang="en-US" sz="1600" b="1" dirty="0"/>
              <a:t>Attack Discovery</a:t>
            </a:r>
            <a:r>
              <a:rPr lang="en-US" sz="1600" dirty="0"/>
              <a:t> — </a:t>
            </a:r>
            <a:r>
              <a:rPr lang="en-IN" sz="1600" dirty="0"/>
              <a:t>Greshake et al. (2023) — first demonstrated indirect prompt injection via retrieved content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Real-World Vulnerability</a:t>
            </a:r>
            <a:r>
              <a:rPr lang="en-US" sz="1600" dirty="0"/>
              <a:t> — Liu et al. (2023) HouYi — found injection vulnerabilities in 31/36 real LLM apps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Benchmarks</a:t>
            </a:r>
            <a:r>
              <a:rPr lang="en-US" sz="1600" dirty="0"/>
              <a:t> — InjecAgent (2024) &amp; AgentDojo — 97 tasks, 629 security test cases</a:t>
            </a:r>
          </a:p>
          <a:p>
            <a:r>
              <a:rPr lang="en-US" sz="1600" dirty="0"/>
              <a:t>• </a:t>
            </a:r>
            <a:r>
              <a:rPr lang="en-US" sz="1600" b="1" dirty="0"/>
              <a:t>Defenses</a:t>
            </a:r>
            <a:r>
              <a:rPr lang="en-US" sz="1600" dirty="0"/>
              <a:t> — Task Shield (2024) &amp; AgentWatcher (2026) — task-alignment and causal-context defenses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Research Gap</a:t>
            </a:r>
          </a:p>
          <a:p>
            <a:endParaRPr lang="en-US" sz="2000" b="1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Multi-hop stateful detection</a:t>
            </a:r>
            <a:r>
              <a:rPr lang="en-US" sz="1600" dirty="0"/>
              <a:t> — Many evaluations focus on individual attack instances; MAPIS focuses on tracking evidence across a chronological agent session. 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Cross-agent interception</a:t>
            </a:r>
            <a:r>
              <a:rPr lang="en-US" sz="1600" dirty="0"/>
              <a:t> — MAPIS places the security layer around agent interactions and untrusted content rather than relying only on the final model response. </a:t>
            </a:r>
          </a:p>
          <a:p>
            <a:pPr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Unified response and traceability</a:t>
            </a:r>
            <a:r>
              <a:rPr lang="en-US" sz="1600" dirty="0"/>
              <a:t> — MAPIS combines trust scoring with PASS / FLAG / QUARANTINE / BLOCK decisions and forensic event tracing.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" y="587276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| Finalized System Architecture &amp; Methodology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53DC7EA-C825-5343-29D5-6F7CADDE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447800"/>
            <a:ext cx="8610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 Task → Planner → Web → File → Memory → Code → Response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Interception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 interaction → Context (goal + preceding hops, chunked) → DeBERTa-v3-small + 4 stateful signals → Trust Score → Response decision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Trust Score Contract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0 = Malicious · 1 = Safe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Response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PASS ≥0.75 · FLAG 0.50–0.75 · QUARANTINE 0.25–0.50 · BLOCK &lt;0.25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Untrusted Surfaces Covered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Web content · Documents/files · Tool responses · Memory writes · Inter-agent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Design Principle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Every agent handoff is checked independently — not just the final output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967BF2-C585-41E3-E02E-455DF15E4159}"/>
              </a:ext>
            </a:extLst>
          </p:cNvPr>
          <p:cNvSpPr txBox="1"/>
          <p:nvPr/>
        </p:nvSpPr>
        <p:spPr>
          <a:xfrm>
            <a:off x="800100" y="990600"/>
            <a:ext cx="81534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Methodology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Stack</a:t>
            </a:r>
          </a:p>
          <a:p>
            <a:r>
              <a:rPr lang="en-US" dirty="0"/>
              <a:t>LangGraph · FastAPI · PyTorch/HuggingFace · DeBERTa-v3-small · Redis · SQLite · React</a:t>
            </a:r>
          </a:p>
          <a:p>
            <a:endParaRPr lang="en-US" dirty="0"/>
          </a:p>
          <a:p>
            <a:r>
              <a:rPr lang="en-US" b="1" dirty="0"/>
              <a:t>Training Pipeline</a:t>
            </a:r>
          </a:p>
          <a:p>
            <a:r>
              <a:rPr lang="en-US" dirty="0"/>
              <a:t>Causal chunked context → event labeling with hard negatives → train/val/test + held-out splits → fine-tuning → calibration → inference</a:t>
            </a:r>
          </a:p>
          <a:p>
            <a:endParaRPr lang="en-US" dirty="0"/>
          </a:p>
          <a:p>
            <a:r>
              <a:rPr lang="en-US" b="1" dirty="0"/>
              <a:t>Key Design Choices</a:t>
            </a:r>
          </a:p>
          <a:p>
            <a:r>
              <a:rPr lang="en-US" dirty="0"/>
              <a:t>- LangGraph over a linear pipeline — exposes state for cross-hop detection</a:t>
            </a:r>
          </a:p>
          <a:p>
            <a:r>
              <a:rPr lang="en-US" dirty="0"/>
              <a:t>- DeBERTa-v3-small over LLM-as-judge — real-time speed at every hop</a:t>
            </a:r>
          </a:p>
          <a:p>
            <a:r>
              <a:rPr lang="en-US" dirty="0"/>
              <a:t>- Causal-only context — no future-hop leakage into evaluation</a:t>
            </a:r>
          </a:p>
          <a:p>
            <a:endParaRPr lang="en-US" dirty="0"/>
          </a:p>
          <a:p>
            <a:r>
              <a:rPr lang="en-US" b="1" dirty="0"/>
              <a:t>Next: Llama Guard / NeMo Guardrails comparison · goal-relevance signal ·</a:t>
            </a:r>
            <a:r>
              <a:rPr lang="en-US" dirty="0"/>
              <a:t/>
            </a:r>
          </a:p>
          <a:p>
            <a:r>
              <a:rPr lang="en-US" dirty="0"/>
              <a:t>threshold tuning · live dashboard demo · final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62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556264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| Implementation Status – Prototype / Proof-of-Concept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84BCE7-DF64-39BA-DF2A-9B6FBE1CA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965043"/>
              </p:ext>
            </p:extLst>
          </p:nvPr>
        </p:nvGraphicFramePr>
        <p:xfrm>
          <a:off x="762000" y="1115572"/>
          <a:ext cx="8763000" cy="5722132"/>
        </p:xfrm>
        <a:graphic>
          <a:graphicData uri="http://schemas.openxmlformats.org/drawingml/2006/table">
            <a:tbl>
              <a:tblPr/>
              <a:tblGrid>
                <a:gridCol w="2921000">
                  <a:extLst>
                    <a:ext uri="{9D8B030D-6E8A-4147-A177-3AD203B41FA5}">
                      <a16:colId xmlns:a16="http://schemas.microsoft.com/office/drawing/2014/main" val="181001876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4075587857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294890588"/>
                    </a:ext>
                  </a:extLst>
                </a:gridCol>
              </a:tblGrid>
              <a:tr h="677697">
                <a:tc>
                  <a:txBody>
                    <a:bodyPr/>
                    <a:lstStyle/>
                    <a:p>
                      <a:r>
                        <a:rPr lang="en-IN" sz="1300" dirty="0"/>
                        <a:t>Component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Status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Evidence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167502"/>
                  </a:ext>
                </a:extLst>
              </a:tr>
              <a:tr h="511965">
                <a:tc>
                  <a:txBody>
                    <a:bodyPr/>
                    <a:lstStyle/>
                    <a:p>
                      <a:r>
                        <a:rPr lang="en-IN" sz="1300" b="1" dirty="0"/>
                        <a:t>LangGraph 5-agent testbed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graph.py, testbed.py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538430"/>
                  </a:ext>
                </a:extLst>
              </a:tr>
              <a:tr h="511965">
                <a:tc>
                  <a:txBody>
                    <a:bodyPr/>
                    <a:lstStyle/>
                    <a:p>
                      <a:r>
                        <a:rPr lang="en-IN" sz="1300" b="1" dirty="0"/>
                        <a:t>FastAPI interception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/inspect + WebSocket stream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619142"/>
                  </a:ext>
                </a:extLst>
              </a:tr>
              <a:tr h="294044">
                <a:tc>
                  <a:txBody>
                    <a:bodyPr/>
                    <a:lstStyle/>
                    <a:p>
                      <a:r>
                        <a:rPr lang="en-IN" sz="1300" b="1" dirty="0"/>
                        <a:t>Stateful signals + store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features.py, store.py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368164"/>
                  </a:ext>
                </a:extLst>
              </a:tr>
              <a:tr h="546357">
                <a:tc>
                  <a:txBody>
                    <a:bodyPr/>
                    <a:lstStyle/>
                    <a:p>
                      <a:r>
                        <a:rPr lang="en-IN" sz="1300" b="1" dirty="0"/>
                        <a:t>MAPIS-Bench v1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1,693 sessions, audited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6348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 sz="1300" b="1" dirty="0"/>
                        <a:t>Phase 4 training dataset (v3)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28,898 chunk records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7398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1300" b="1" dirty="0"/>
                        <a:t>DeBERTa-v3-small classifier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BIPIA recall 95%, FPR 0.5%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484519"/>
                  </a:ext>
                </a:extLst>
              </a:tr>
              <a:tr h="5119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dirty="0"/>
                        <a:t>Four-tier response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dirty="0"/>
                        <a:t>Four tiers + channel block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89751"/>
                  </a:ext>
                </a:extLst>
              </a:tr>
              <a:tr h="511965">
                <a:tc>
                  <a:txBody>
                    <a:bodyPr/>
                    <a:lstStyle/>
                    <a:p>
                      <a:r>
                        <a:rPr lang="en-IN" sz="1300" b="1" dirty="0"/>
                        <a:t>Forensic logging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origin-relay-action trace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977139"/>
                  </a:ext>
                </a:extLst>
              </a:tr>
              <a:tr h="294044">
                <a:tc>
                  <a:txBody>
                    <a:bodyPr/>
                    <a:lstStyle/>
                    <a:p>
                      <a:r>
                        <a:rPr lang="en-IN" sz="1300" b="1" dirty="0"/>
                        <a:t>Full dashboard integration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IN PROGRESS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Dashboard built; demo next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103822"/>
                  </a:ext>
                </a:extLst>
              </a:tr>
              <a:tr h="511965">
                <a:tc>
                  <a:txBody>
                    <a:bodyPr/>
                    <a:lstStyle/>
                    <a:p>
                      <a:r>
                        <a:rPr lang="en-IN" sz="1300" b="1" dirty="0"/>
                        <a:t>Guardrail benchmarking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IN PROGRESS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Llama Guard / NeMo next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324971"/>
                  </a:ext>
                </a:extLst>
              </a:tr>
              <a:tr h="511965"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4823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414278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| Experimental Setup &amp; Test Cases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" y="980956"/>
            <a:ext cx="8572500" cy="301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500" b="1" dirty="0"/>
              <a:t>MAPIS-Bench v1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1,693 chronological multi-hop sessions</a:t>
            </a:r>
            <a:r>
              <a:rPr lang="en-IN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/>
              <a:t>1,544 attack</a:t>
            </a:r>
            <a:r>
              <a:rPr lang="en-IN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/>
              <a:t>149 benign</a:t>
            </a:r>
            <a:r>
              <a:rPr lang="en-IN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AgentDojo: </a:t>
            </a:r>
            <a:r>
              <a:rPr lang="en-IN" sz="1400" b="1" dirty="0"/>
              <a:t>1,132</a:t>
            </a:r>
            <a:r>
              <a:rPr lang="en-IN" sz="1400" dirty="0"/>
              <a:t> | InjecAgent: </a:t>
            </a:r>
            <a:r>
              <a:rPr lang="en-IN" sz="1400" b="1" dirty="0"/>
              <a:t>561</a:t>
            </a:r>
            <a:r>
              <a:rPr lang="en-IN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Split: 1,169 train / 242 validation / 282 test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Zero cross-split group leakage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Five attack classes: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Data Exfiltration — </a:t>
            </a:r>
            <a:r>
              <a:rPr lang="en-IN" sz="1400" b="1" dirty="0"/>
              <a:t>981</a:t>
            </a:r>
            <a:r>
              <a:rPr lang="en-IN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Financial Manipulation — </a:t>
            </a:r>
            <a:r>
              <a:rPr lang="en-IN" sz="1400" b="1" dirty="0"/>
              <a:t>63</a:t>
            </a:r>
            <a:r>
              <a:rPr lang="en-IN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Code/Tool Manipulation — </a:t>
            </a:r>
            <a:r>
              <a:rPr lang="en-IN" sz="1400" b="1" dirty="0"/>
              <a:t>382</a:t>
            </a:r>
            <a:r>
              <a:rPr lang="en-IN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Instruction Override — </a:t>
            </a:r>
            <a:r>
              <a:rPr lang="en-IN" sz="1400" b="1" dirty="0"/>
              <a:t>82</a:t>
            </a:r>
            <a:r>
              <a:rPr lang="en-IN" sz="1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/>
              <a:t>Physical Safety Harm — </a:t>
            </a:r>
            <a:r>
              <a:rPr lang="en-IN" sz="1400" b="1" dirty="0"/>
              <a:t>18</a:t>
            </a:r>
            <a:r>
              <a:rPr lang="en-IN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18 unclassified</a:t>
            </a:r>
            <a:r>
              <a:rPr lang="en-IN" sz="1400" dirty="0"/>
              <a:t> · + BIPIA 1,800 sessions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F28E7-AB5D-8514-5A73-EB5BC832A4D1}"/>
              </a:ext>
            </a:extLst>
          </p:cNvPr>
          <p:cNvSpPr txBox="1"/>
          <p:nvPr/>
        </p:nvSpPr>
        <p:spPr>
          <a:xfrm>
            <a:off x="5867400" y="973586"/>
            <a:ext cx="34671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Phase 4 Event Construction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28,898 chunk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3,027 malicious · 3,066 safe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Train/val/test: 3,600/496/468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Labels: 0 = malicious · 1 = safe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Positives: injected chunk only;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hard negatives: adjacent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Causal context: preceding hops only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Held-out: 529 OOD + 1,000 BIPIA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3454D-AA9A-40E4-5B7D-4C3D7F034A73}"/>
              </a:ext>
            </a:extLst>
          </p:cNvPr>
          <p:cNvSpPr txBox="1"/>
          <p:nvPr/>
        </p:nvSpPr>
        <p:spPr>
          <a:xfrm>
            <a:off x="685800" y="4343400"/>
            <a:ext cx="47244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Classifier Setup</a:t>
            </a:r>
            <a:endParaRPr lang="en-IN" sz="15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DeBERTa-v3-small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512 tokens · 900-char chunks · batch 4 (×4)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LR 2e-5 · 2 epochs · AdamW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seed 42 · fp16 · RTX 3050 laptop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Validator: PASS, 0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26 unit tests passed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00" y="381000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 | Results – Quantitative Performance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C611463-6E34-E018-9E7C-B15D6DE26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175653"/>
            <a:ext cx="74676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MAPIS Detector — DeBERTa-v3-small (stateful)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Held-out evaluation, event level (trust &lt; 0.5)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(468 events)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Recall 100% · FPR 1.6%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Unseen templates (529)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Recall 100% · FPR 0.8%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Unseen dataset: BIPIA (1,000)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Recall 95.0% · FPR 0.5%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BIPIA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Precision 99.7% · F1 97.3%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Stateless model (BIPIA)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Recall 92.7% · FPR 1.0%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 — BIPIA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TP 570 · FN 30 · FP 2 · TN 398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heuristic vs MAPIS — MAPIS-Bench v1 test sessions (282)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Heuristic: recall 10.55% · FPR 3.85%  |  MAPIS: recall 100% · FPR 0% (0 of 26 benign)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TF-IDF baseline 81.0% → MAPIS 95.0% on BIPIA (FPR 12.0% → 0.5%)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766171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 | Results Analysis &amp; Interpretation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9125" y="1525504"/>
            <a:ext cx="8572500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400" b="1" dirty="0"/>
              <a:t>Baseline → Learned Detector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Heuristic baseline:</a:t>
            </a:r>
            <a:r>
              <a:rPr lang="en-US" sz="1400" dirty="0"/>
              <a:t> precision </a:t>
            </a:r>
            <a:r>
              <a:rPr lang="en-US" sz="1400" b="1" dirty="0"/>
              <a:t>96.43%</a:t>
            </a:r>
            <a:r>
              <a:rPr lang="en-US" sz="1400" dirty="0"/>
              <a:t> but recall only </a:t>
            </a:r>
            <a:r>
              <a:rPr lang="en-US" sz="1400" b="1" dirty="0"/>
              <a:t>10.55%</a:t>
            </a:r>
            <a:r>
              <a:rPr lang="en-US" sz="1400" dirty="0"/>
              <a:t> on the 282 v1 test sessions; the trained detector catches all 256 attacks with 0 of 26 benign flagged.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Accuracy is near ceiling for every model on AgentDojo / InjecAgent (TF-IDF also ≈99–100%); the unseen BIPIA dataset is the discriminating test (Slide 9).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IN" sz="1400" b="1" dirty="0"/>
              <a:t>Dataset Design</a:t>
            </a:r>
          </a:p>
          <a:p>
            <a:r>
              <a:rPr lang="en-US" sz="1400" b="1" dirty="0"/>
              <a:t>Localized chunk labels</a:t>
            </a:r>
            <a:r>
              <a:rPr lang="en-US" sz="1400" dirty="0"/>
              <a:t> and adjacent clean text as hard negatives prevent shortcut learning.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Causal context</a:t>
            </a:r>
            <a:r>
              <a:rPr lang="en-US" sz="1400" dirty="0"/>
              <a:t> uses preceding hops only, preventing future-information leakage.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Session context (goal + preceding hops) lifts BIPIA recall from 92.7% to 95.0%; provenance tracking catches decomposed attacks (100% vs 0%, synthetic set).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Training combines </a:t>
            </a:r>
            <a:r>
              <a:rPr lang="en-US" sz="1400" b="1" dirty="0"/>
              <a:t>AgentDojo + InjecAgent + BIPIA</a:t>
            </a:r>
            <a:r>
              <a:rPr lang="en-US" sz="1400" dirty="0"/>
              <a:t>; BIPIA test contexts and attack categories were never seen.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IN" sz="1400" b="1" dirty="0"/>
              <a:t>Open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Weak spot: </a:t>
            </a:r>
            <a:r>
              <a:rPr lang="en-US" sz="1400" b="1" dirty="0"/>
              <a:t>injections that look like harmless requests (74–85% recall in four BIPIA categories)</a:t>
            </a:r>
            <a:r>
              <a:rPr lang="en-US" sz="1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Benign test data is small: </a:t>
            </a:r>
            <a:r>
              <a:rPr lang="en-US" sz="1400" b="1" dirty="0"/>
              <a:t>26 independent v1 sessions, FPR interval 0–13%</a:t>
            </a:r>
            <a:r>
              <a:rPr lang="en-US" sz="1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Next: Llama Guard / NeMo comparison, goal-relevance signal, threshold tuning, live demo.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Response Policy</a:t>
            </a:r>
          </a:p>
          <a:p>
            <a:r>
              <a:rPr lang="en-US" sz="1400" b="1" dirty="0"/>
              <a:t>PASS → FLAG → QUARANTINE → BLOCK</a:t>
            </a:r>
            <a:endParaRPr lang="en-US" sz="1400" dirty="0"/>
          </a:p>
          <a:p>
            <a:r>
              <a:rPr lang="en-US" sz="1400" dirty="0"/>
              <a:t>Implemented: ≥0.75 PASS · ≥0.50 FLAG · ≥0.25 QUARANTINE · else BLOCK</a:t>
            </a:r>
            <a:endParaRPr lang="en-US" sz="12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998071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 | Prototype / Demonstration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0CF6E74-CFF5-74FE-5071-F0ADC9C63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90904"/>
            <a:ext cx="8839200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Current Demonstrable Prototype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FastAPI /inspect endpoint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lang="en-US" altLang="en-US" b="1" dirty="0">
                <a:latin typeface="+mj-lt"/>
              </a:rPr>
              <a:t/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/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scans every agent message, tool output and memory operation, logs the verdict and propagation trace, and streams it to the dashboard.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5-agent LangGraph flow (Planner→Web→File→Memory→Code) with the MAPIS tap on every hop (stateful, session-aware)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DeBERTa-v3-small classifier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trained detector plus four stateful signals producing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0–1 trust score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React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trust timeline, alerts, forensic traces and quarantine review via REST/WebSocket.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05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Demonstration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 Task → Agent Interaction → MAPIS Interception → Context + Classifier → Trust Score → PASS / FLAG / QUARANTINE / BLOCK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1600" b="1" dirty="0"/>
              <a:t>Next Phase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final demonstration will show: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Live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blocked-attack run → Forensic Trace on dashboard → Llama Guard / NeMo comparison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720328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 | Current Limitations &amp; Technical Challenges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1558528"/>
            <a:ext cx="8572500" cy="455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0" b="1" dirty="0"/>
              <a:t>Current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Agent environment:</a:t>
            </a:r>
            <a:r>
              <a:rPr lang="en-US" sz="1600" dirty="0"/>
              <a:t> Web, File, Code and Memory agents are deterministic simulations over a controlled environment; real external tool execution is not integrated.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Runtime integration:</a:t>
            </a:r>
            <a:r>
              <a:rPr lang="en-US" sz="1600" dirty="0"/>
              <a:t> interception covers agent messages, tool outputs, memory reads/writes and tool calls in the LangGraph testbed; AutoGen and real tool backends are future 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Trust calibration:</a:t>
            </a:r>
            <a:r>
              <a:rPr lang="en-US" sz="1600" dirty="0"/>
              <a:t> temperature-calibrated on validation (T = 1.29); tier thresholds are defaults (0.75 / 0.50 / 0.25), not yet tuned on a large benign set.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Dataset balance:</a:t>
            </a:r>
            <a:r>
              <a:rPr lang="en-US" sz="1600" dirty="0"/>
              <a:t> benign test data is small (26 independent v1 sessions), so FPR intervals are wide (0–13%); v1 has about 10× more attack than benign sessions.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Evaluation scope:</a:t>
            </a:r>
            <a:r>
              <a:rPr lang="en-US" sz="1600" dirty="0"/>
              <a:t> harmless-looking injections are the main miss (74–85% recall in four BIPIA categories); the decomposed-attack set is synthetic; Llama Guard / NeMo comparison pending.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IN" sz="2000" b="1" dirty="0"/>
              <a:t>Next Steps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Run Llama Guard / NeMo Guardrails on identical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Add a </a:t>
            </a:r>
            <a:r>
              <a:rPr lang="en-US" sz="1600" b="1" dirty="0"/>
              <a:t>goal-relevance signal</a:t>
            </a:r>
            <a:r>
              <a:rPr lang="en-US" sz="1600" dirty="0"/>
              <a:t> for harmless-looking injections.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Tune </a:t>
            </a:r>
            <a:r>
              <a:rPr lang="en-US" sz="1600" b="1" dirty="0"/>
              <a:t>thresholds</a:t>
            </a:r>
            <a:r>
              <a:rPr lang="en-US" sz="1600" dirty="0"/>
              <a:t> on a larger benign 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Live demo with dashboard and forensic trace.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Final report: </a:t>
            </a:r>
            <a:r>
              <a:rPr lang="en-US" sz="1600" b="1" dirty="0"/>
              <a:t>evaluation write-up and documentation</a:t>
            </a:r>
            <a:r>
              <a:rPr lang="en-US" sz="1600" dirty="0"/>
              <a:t>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505069"/>
            <a:ext cx="11618976" cy="43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 | Remaining Work &amp; Completion Plan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2742748-13D5-97E5-D7D9-3F5B4B1C7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52910"/>
              </p:ext>
            </p:extLst>
          </p:nvPr>
        </p:nvGraphicFramePr>
        <p:xfrm>
          <a:off x="457200" y="1143000"/>
          <a:ext cx="8763000" cy="566713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484519016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37854148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151129197"/>
                    </a:ext>
                  </a:extLst>
                </a:gridCol>
              </a:tblGrid>
              <a:tr h="328264">
                <a:tc>
                  <a:txBody>
                    <a:bodyPr/>
                    <a:lstStyle/>
                    <a:p>
                      <a:r>
                        <a:rPr lang="en-IN" sz="1300" dirty="0"/>
                        <a:t>Phase / Work Item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Current Status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Next Step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603055"/>
                  </a:ext>
                </a:extLst>
              </a:tr>
              <a:tr h="574878">
                <a:tc>
                  <a:txBody>
                    <a:bodyPr/>
                    <a:lstStyle/>
                    <a:p>
                      <a:r>
                        <a:rPr lang="en-IN" sz="1300" b="1" dirty="0"/>
                        <a:t>Phase 1 — Literature &amp; Problem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 </a:t>
                      </a:r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—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827792"/>
                  </a:ext>
                </a:extLst>
              </a:tr>
              <a:tr h="574878">
                <a:tc>
                  <a:txBody>
                    <a:bodyPr/>
                    <a:lstStyle/>
                    <a:p>
                      <a:r>
                        <a:rPr lang="en-US" sz="1300" b="1" dirty="0"/>
                        <a:t>Phase 2 — Testbed + FastAPI Hooks</a:t>
                      </a:r>
                      <a:endParaRPr lang="en-US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 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Optional: AutoGen adapter, real tool backends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320195"/>
                  </a:ext>
                </a:extLst>
              </a:tr>
              <a:tr h="574878">
                <a:tc>
                  <a:txBody>
                    <a:bodyPr/>
                    <a:lstStyle/>
                    <a:p>
                      <a:r>
                        <a:rPr lang="en-IN" sz="1300" b="1" dirty="0"/>
                        <a:t>Phase 3 — Attack Dataset + MAPIS-Bench v1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 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Audited vs source repos; BIPIA added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043126"/>
                  </a:ext>
                </a:extLst>
              </a:tr>
              <a:tr h="574878">
                <a:tc>
                  <a:txBody>
                    <a:bodyPr/>
                    <a:lstStyle/>
                    <a:p>
                      <a:r>
                        <a:rPr lang="en-US" sz="1300" b="1" dirty="0"/>
                        <a:t>Phase 4 — Trust Model + Fine-Tuning</a:t>
                      </a:r>
                      <a:endParaRPr lang="en-US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 </a:t>
                      </a:r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Tune thresholds on a larger benign set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37527"/>
                  </a:ext>
                </a:extLst>
              </a:tr>
              <a:tr h="821492">
                <a:tc>
                  <a:txBody>
                    <a:bodyPr/>
                    <a:lstStyle/>
                    <a:p>
                      <a:r>
                        <a:rPr lang="en-IN" sz="1300" b="1" dirty="0"/>
                        <a:t>Phase 5 — Tiered Response + Forensic Logging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 </a:t>
                      </a:r>
                      <a:r>
                        <a:rPr lang="en-IN" sz="1300" b="1" dirty="0"/>
                        <a:t>DONE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Show on the live dashboard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585474"/>
                  </a:ext>
                </a:extLst>
              </a:tr>
              <a:tr h="821492">
                <a:tc>
                  <a:txBody>
                    <a:bodyPr/>
                    <a:lstStyle/>
                    <a:p>
                      <a:r>
                        <a:rPr lang="en-US" sz="1300" b="1" dirty="0"/>
                        <a:t>Phase 6 — Dashboard + Full Integration</a:t>
                      </a:r>
                      <a:endParaRPr lang="en-US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 </a:t>
                      </a:r>
                      <a:r>
                        <a:rPr lang="en-IN" sz="1300" b="1" dirty="0"/>
                        <a:t>IN PROGRESS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Live demo and telemetry polish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135113"/>
                  </a:ext>
                </a:extLst>
              </a:tr>
              <a:tr h="574878">
                <a:tc>
                  <a:txBody>
                    <a:bodyPr/>
                    <a:lstStyle/>
                    <a:p>
                      <a:r>
                        <a:rPr lang="en-IN" sz="1300" b="1" dirty="0"/>
                        <a:t>Phase 7 — Guardrail Benchmarking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 </a:t>
                      </a:r>
                      <a:r>
                        <a:rPr lang="en-IN" sz="1300" b="1" dirty="0"/>
                        <a:t>IN PROGRESS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Llama Guard / NeMo comparison on identical events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436066"/>
                  </a:ext>
                </a:extLst>
              </a:tr>
              <a:tr h="821492">
                <a:tc>
                  <a:txBody>
                    <a:bodyPr/>
                    <a:lstStyle/>
                    <a:p>
                      <a:r>
                        <a:rPr lang="en-US" sz="1300" b="1" dirty="0"/>
                        <a:t>Phase 8 — Final Report + Demonstration</a:t>
                      </a:r>
                      <a:endParaRPr lang="en-US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 FINAL REVIEW</a:t>
                      </a:r>
                      <a:endParaRPr lang="en-IN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Final evaluation, documentation and live demo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8601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914400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 | Project Contribution &amp; Current Achievement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1828800"/>
            <a:ext cx="8572500" cy="249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</a:t>
            </a:r>
            <a:r>
              <a:rPr lang="en-IN" dirty="0"/>
              <a:t>MAPIS-Bench v1 (1,693 sessions, audited vs source repos) + BIPIA (1,800 minimal pairs)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+ 28,898 chunk-level records, hard negatives, 3 held-out test splits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AgentDojo + InjecAgent + BIPIA integrated with full source provenance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Trained DeBERTa-v3-small: 95.0% recall / 0.5% FPR on an unseen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Runtime shield: 4-tier response, session store, provenance, forensic trace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review: benchmark, dataset, trained detector and runtime shield — done.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Next: Llama Guard / NeMo comparison, live demo, final report.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835005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 | Team Contribution &amp; Responsibility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550" y="1555552"/>
            <a:ext cx="8572500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000" b="1" dirty="0"/>
              <a:t>Vishnu Vardhan — Testbed &amp; Orchestration Lead</a:t>
            </a:r>
            <a:br>
              <a:rPr lang="en-IN" sz="2000" dirty="0"/>
            </a:br>
            <a:r>
              <a:rPr lang="en-IN" sz="2000" dirty="0"/>
              <a:t>Owns the LangGraph multi-agent testbed, agent-to-agent orchestration, and FastAPI interception middleware.</a:t>
            </a:r>
          </a:p>
          <a:p>
            <a:r>
              <a:rPr lang="en-IN" sz="2000" b="1" dirty="0"/>
              <a:t>Nithya Sai — Attack Dataset &amp; Red-Team Lead</a:t>
            </a:r>
            <a:br>
              <a:rPr lang="en-IN" sz="2000" dirty="0"/>
            </a:br>
            <a:r>
              <a:rPr lang="en-IN" sz="2000" dirty="0"/>
              <a:t>Owns MAPIS-Bench construction, attack taxonomy, multi-hop attack scenarios, and dataset labelling.</a:t>
            </a:r>
          </a:p>
          <a:p>
            <a:r>
              <a:rPr lang="en-IN" sz="2000" b="1" dirty="0"/>
              <a:t>Sreekar Reddy — Detection Model Lead</a:t>
            </a:r>
            <a:br>
              <a:rPr lang="en-IN" sz="2000" dirty="0"/>
            </a:br>
            <a:r>
              <a:rPr lang="en-IN" sz="2000" dirty="0"/>
              <a:t>Owns the session-context design and trust-scoring classifier, including model training, feature design, and threshold calibration.</a:t>
            </a:r>
          </a:p>
          <a:p>
            <a:r>
              <a:rPr lang="en-IN" sz="2000" b="1" dirty="0"/>
              <a:t>Beena Reddy — Response, Dashboard &amp; Evaluation Lead</a:t>
            </a:r>
            <a:br>
              <a:rPr lang="en-IN" sz="2000" dirty="0"/>
            </a:br>
            <a:r>
              <a:rPr lang="en-IN" sz="2000" dirty="0"/>
              <a:t>Owns the tiered response layer, forensic logging, dashboard integration, and benchmark evaluation.</a:t>
            </a:r>
          </a:p>
          <a:p>
            <a:r>
              <a:rPr lang="en-IN" sz="2000" b="1" dirty="0"/>
              <a:t>Shared Responsibilities</a:t>
            </a:r>
            <a:br>
              <a:rPr lang="en-IN" sz="2000" dirty="0"/>
            </a:br>
            <a:r>
              <a:rPr lang="en-IN" sz="2000" dirty="0"/>
              <a:t>Weekly integration testing, code review, experiment tracking, documentation, and final report preparation across all four members.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1447800"/>
            <a:ext cx="11618976" cy="55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 | 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7888" y="8061655"/>
            <a:ext cx="11521440" cy="16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96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FIRST REVIEW • MAPIS • Team A1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7888" y="2320747"/>
            <a:ext cx="8829676" cy="2820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[1] Greshake et al., “Not what you've signed up for: Compromising real-world LLM-integrated applications with indirect prompt injection,” AISec '23, 2023.</a:t>
            </a:r>
          </a:p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[2] Liu et al., “Prompt injection attack against LLM-integrated applications,” arXiv:2306.05499, 2023.</a:t>
            </a:r>
          </a:p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[3] Zhan et al., “InjecAgent: Benchmarking indirect prompt injections in tool-integrated LLM agents,” ACL Findings, 2024.</a:t>
            </a:r>
          </a:p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[4] Debenedetti et al., “AgentDojo: A dynamic environment to evaluate prompt injection attacks and defenses,” NeurIPS 2024.</a:t>
            </a:r>
          </a:p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[5] Jia et al., “The Task Shield: Enforcing task alignment to defend against indirect prompt injection,” arXiv:2412.16682, 2024.</a:t>
            </a:r>
          </a:p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[6] Wang et al., “AgentWatcher: A rule-based prompt injection monitor,” arXiv:2604.01194, 2026.</a:t>
            </a:r>
          </a:p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[7] Li &amp; Zhao, “The autonomy tax: Defense training breaks LLM agents,” arXiv:2603.19423, 2026.</a:t>
            </a:r>
          </a:p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[8] Geng et al., “Prompt injection attacks on large language models: A survey,” Computers, Materials &amp; Continua, 2026.</a:t>
            </a:r>
          </a:p>
          <a:p>
            <a:pPr algn="l">
              <a:lnSpc>
                <a:spcPts val="1679"/>
              </a:lnSpc>
            </a:pPr>
            <a:r>
              <a:rPr lang="en-US" sz="1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[9] Yi et al., “Benchmarking and defending against indirect prompt injection attacks on large language models,” arXiv:2312.14197, 2023.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CFA42-67AD-E439-B52F-FA50297210F3}"/>
              </a:ext>
            </a:extLst>
          </p:cNvPr>
          <p:cNvSpPr txBox="1"/>
          <p:nvPr/>
        </p:nvSpPr>
        <p:spPr>
          <a:xfrm>
            <a:off x="1371600" y="2667000"/>
            <a:ext cx="4229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rial Narrow" panose="020B0606020202030204" pitchFamily="34" charset="0"/>
              </a:rPr>
              <a:t>Thank You</a:t>
            </a:r>
            <a:endParaRPr lang="en-IN" sz="8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878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2061</Words>
  <Application>Microsoft Office PowerPoint</Application>
  <PresentationFormat>Custom</PresentationFormat>
  <Paragraphs>256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Narrow</vt:lpstr>
      <vt:lpstr>Aptos</vt:lpstr>
      <vt:lpstr>Calibri (MS) Bold</vt:lpstr>
      <vt:lpstr>Arimo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First_Review_Sample_Presentation.pptx.pptx</dc:title>
  <dc:creator>vishnu M</dc:creator>
  <cp:lastModifiedBy>vishnu M</cp:lastModifiedBy>
  <cp:revision>19</cp:revision>
  <dcterms:created xsi:type="dcterms:W3CDTF">2006-08-16T00:00:00Z</dcterms:created>
  <dcterms:modified xsi:type="dcterms:W3CDTF">2026-09-19T07:46:26Z</dcterms:modified>
  <dc:identifier>DAHVk5vP9Jo</dc:identifier>
</cp:coreProperties>
</file>